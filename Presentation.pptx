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9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B5F8935-9A5F-494E-94E8-F785D6B7AA8A}">
          <p14:sldIdLst>
            <p14:sldId id="256"/>
            <p14:sldId id="257"/>
            <p14:sldId id="258"/>
            <p14:sldId id="269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565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664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563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219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466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4892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3068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4301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153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64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907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88770-4C52-4B3C-A786-922EFC96EB1D}" type="datetimeFigureOut">
              <a:rPr lang="en-PK" smtClean="0"/>
              <a:t>31/10/2025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E739A-290C-433A-BEE6-C59069F1790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26138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1531CD-CC26-3868-682B-201526EBA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1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15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DE08-1A6D-44FB-CADC-83D28970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71" y="412499"/>
            <a:ext cx="10515600" cy="9960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Job Market Analysis</a:t>
            </a:r>
            <a:endParaRPr lang="en-PK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0AB86-979D-2EFA-D7EA-F49D1D27C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81081" y="5460676"/>
            <a:ext cx="4039953" cy="150018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Osama Hafeez</a:t>
            </a:r>
          </a:p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F2024110007</a:t>
            </a:r>
            <a:endParaRPr lang="en-PK" sz="3200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64352-74E1-BDC1-3336-48A1AB2CD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66" y="1569306"/>
            <a:ext cx="11850068" cy="35699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2570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431CE-5B0E-8BF0-E17B-DB655012B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406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PK" sz="3200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F9D4A-A390-5D3D-BDC4-1ED1A2840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analysis is to interpret data from the "AI Job's Market Analysis" dashboard to derive actionable business insights. The analysis focuses on four key areas: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Market Vitals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Benchmarks and Industry Differentials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In-Demand Roles, Skills, and Geographic Distribution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Hiring Trends</a:t>
            </a:r>
          </a:p>
          <a:p>
            <a:pPr marL="0" indent="0">
              <a:buNone/>
            </a:pPr>
            <a:endParaRPr lang="en-US" sz="2000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PK" sz="2000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53AB0-1F26-61C6-1474-523AAA906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374" y="2129051"/>
            <a:ext cx="5278644" cy="40806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528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974C-5445-1909-AB0F-CBA0FC27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80" y="176211"/>
            <a:ext cx="10515600" cy="100965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endParaRPr lang="en-PK" sz="3200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FFFA-FFEF-D454-84EB-21D4D04DE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880" y="1253331"/>
            <a:ext cx="10080010" cy="4351338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Promoted Header</a:t>
            </a:r>
          </a:p>
          <a:p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the data type of all column</a:t>
            </a:r>
          </a:p>
          <a:p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the Acronym with full name in columns ‘Experience level’, ‘Employment Type’ and ‘Company Size’.</a:t>
            </a:r>
          </a:p>
          <a:p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removed: “application_deadline", "job_description_length", "benefits_score”.</a:t>
            </a:r>
          </a:p>
          <a:p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column "required_skills” by delimiter.</a:t>
            </a:r>
          </a:p>
          <a:p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Trimmed "required_skills” to remove the space after splitting column.</a:t>
            </a:r>
            <a:endParaRPr lang="en-PK" sz="1600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78196-2B29-CE75-A966-85AEFAD73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476" y="2743199"/>
            <a:ext cx="5061554" cy="348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3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81AA-4E85-9749-F825-86CED5F6F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75" y="160410"/>
            <a:ext cx="10515600" cy="68575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PK" sz="3200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F0DDE-EA6D-3746-0851-8BC5030DB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1696"/>
            <a:ext cx="12192000" cy="591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E8A1-AB60-0658-FEC9-8B7B18D5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74" y="333042"/>
            <a:ext cx="10515600" cy="99341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Overview</a:t>
            </a:r>
            <a:endParaRPr lang="en-PK" sz="3200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627D3-D375-8C1E-7EC3-9FA48A43E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274" y="260481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high-level snapshot of the market based on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15,000 job postings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Salary: 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$115,190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Experience Required: 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years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 Spread: 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Countries 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Pool: 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data establishes the AI sector as a mature field, distinct from an entry-level market, with high compensation reflecting a high demand for skilled professionals.</a:t>
            </a:r>
          </a:p>
          <a:p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1B8CB-ECA2-987C-309B-404479DFD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9" b="1"/>
          <a:stretch>
            <a:fillRect/>
          </a:stretch>
        </p:blipFill>
        <p:spPr>
          <a:xfrm>
            <a:off x="485274" y="1189869"/>
            <a:ext cx="10393225" cy="9934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24625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257C-D3B4-C1D5-8B8E-052F95D6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92" y="365126"/>
            <a:ext cx="10515600" cy="1150166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Compensation</a:t>
            </a:r>
            <a:r>
              <a:rPr lang="en-US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br>
              <a:rPr lang="en-US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E74FC-AAC2-6282-B5EA-DFCC054FF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92" y="1367840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Salaries in the AI sector are competitive, with surprisingly minor variations across the top 5 industries.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5 Industries by Average Salary:                </a:t>
            </a:r>
            <a:endParaRPr lang="en-US" sz="1600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Consulting: $117,004.2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Media: $116,680.7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Manufacturing: $116,522.1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Education: $115,981.6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Technology: $115,855.2</a:t>
            </a:r>
          </a:p>
          <a:p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C51374-40C8-3237-671F-AEE2FD443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574" y="2239511"/>
            <a:ext cx="5300534" cy="34796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539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30452-9DC9-3604-D96A-0EE1A8FB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653" y="585503"/>
            <a:ext cx="10515600" cy="100965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Salary by Experience Level</a:t>
            </a:r>
            <a:endParaRPr lang="en-PK" sz="3200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1CEE2-B850-23B5-DF2E-E8D882BBA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653" y="159515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is far more dependent on experience level. The data shows clear and significant financial progression:</a:t>
            </a:r>
          </a:p>
          <a:p>
            <a:pPr>
              <a:lnSpc>
                <a:spcPct val="100000"/>
              </a:lnSpc>
            </a:pPr>
            <a:r>
              <a:rPr lang="en-US" sz="23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Executive: $189,395.4</a:t>
            </a:r>
          </a:p>
          <a:p>
            <a:pPr>
              <a:lnSpc>
                <a:spcPct val="100000"/>
              </a:lnSpc>
            </a:pPr>
            <a:r>
              <a:rPr lang="en-US" sz="23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Senior: $121,211.0</a:t>
            </a:r>
          </a:p>
          <a:p>
            <a:pPr>
              <a:lnSpc>
                <a:spcPct val="100000"/>
              </a:lnSpc>
            </a:pPr>
            <a:r>
              <a:rPr lang="en-US" sz="23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Mid: $87,785.6</a:t>
            </a:r>
          </a:p>
          <a:p>
            <a:pPr>
              <a:lnSpc>
                <a:spcPct val="100000"/>
              </a:lnSpc>
            </a:pPr>
            <a:r>
              <a:rPr lang="en-US" sz="23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Entry: $63,101.5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6BE77-63C9-536D-34A0-BC9EC454D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40803"/>
            <a:ext cx="5420481" cy="35056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515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9597-14AB-5C0C-9498-891CCE1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97" y="197905"/>
            <a:ext cx="10515600" cy="940331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&amp; Skill Requirements</a:t>
            </a:r>
            <a:b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3200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9C85E-9F07-AB8B-39CC-B4147E013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97" y="972641"/>
            <a:ext cx="621280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of the top 10 jobs and required skills highlights a market dominated by machine learning.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Required Skills:</a:t>
            </a:r>
            <a:endParaRPr lang="en-US" sz="1600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clear-cut, dominant skill required.</a:t>
            </a:r>
          </a:p>
          <a:p>
            <a:pPr lvl="1"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second most required skill, emphasizing the importance of data retrieval and management.</a:t>
            </a:r>
          </a:p>
          <a:p>
            <a:pPr lvl="1"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Frameworks: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TensorFlow and </a:t>
            </a:r>
            <a:r>
              <a:rPr lang="en-US" sz="1600" dirty="0" err="1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both highly sought.</a:t>
            </a:r>
          </a:p>
          <a:p>
            <a:pPr lvl="1"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 &amp; Engineering: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Scala and Spark are essential.</a:t>
            </a:r>
          </a:p>
          <a:p>
            <a:pPr lvl="1"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Stats: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Tableau and R complete the toolkit.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66A426-B45C-32B2-A249-8E9182487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306" y="1979818"/>
            <a:ext cx="5193178" cy="33441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83756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175C-DF0E-4BC1-EE46-0B053C0C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15" y="327755"/>
            <a:ext cx="10515600" cy="719042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Benchmark</a:t>
            </a:r>
            <a:b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3200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95EF1-3A53-D77C-86AB-2CA5DF765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88" y="1046797"/>
            <a:ext cx="5914712" cy="42664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Volume: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"Machine Learning Researcher" (808 jobs) and "AI Software Engineer" (784 jobs) are the most common roles.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Average Salary: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"Machine Learning Engineer" ($118,935) and "Head of AI" ($118,764) show the highest average pay.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Potential: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"AI Architect" ($398k Max), "Machine Learning Researcher" ($399k Max), and "AI Research Scientist" ($394k Max) have the highest maximum salaries, indicating exceptionally high compensation for elite-level individual contributors and architects.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EF779-6AE9-4F65-FE9F-047F27CC1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638" y="1661156"/>
            <a:ext cx="5706074" cy="36343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4025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8C07-8846-391C-16CE-C885F7997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61" y="245031"/>
            <a:ext cx="10515600" cy="88547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Hiring Trends &amp; Geography</a:t>
            </a:r>
            <a:br>
              <a:rPr lang="en-US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1AE31-3312-CB30-E432-E59567E6A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61" y="884840"/>
            <a:ext cx="6666709" cy="45742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"Job posting per Month" chart reveals the single most critical finding for strategic planning: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Hiring activity is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uniform. It begins high in January (~2.8k posts), peaks in March (~3k posts), and then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declines sharply by over 50%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April to June.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entire second half of the year (June-December), hiring remains low and flat at approximately 1.2k posts per month.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Geographically, the "Jobs by Company Location" map shows that opportunities are predominantly concentrated in the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and Europe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E5A4A-8F74-8F2D-68D8-22720713A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361" y="565249"/>
            <a:ext cx="4208600" cy="26067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B2DBA3-4430-8DBB-85A2-83E1D7671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361" y="3275463"/>
            <a:ext cx="4208600" cy="28234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39223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3AB8-56DE-EE97-DBA5-AC99701F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068" y="37818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PK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F084-1D7B-EB7D-F693-9FA28ACAE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68" y="1739765"/>
            <a:ext cx="10515600" cy="4351338"/>
          </a:xfrm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High-Experience, High-Salary Market: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AI job market is mature. The overall average salary is high at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$115,190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the average experience required is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years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suggests that employers are primarily seeking experienced professionals, not entry-level trainees.</a:t>
            </a:r>
          </a:p>
          <a:p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Scales Dramatically with Seniority: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There are significant pay jumps between experience levels. The leap from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 ($121k)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($189k)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particularly large (a ~56% increase), indicating a leadership and strategic AI roles.</a:t>
            </a:r>
          </a:p>
          <a:p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&amp; SQL are the Foundation: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the two most-required skills by a significant margin. This pair forms the "barrier to entry." Specialized skills like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Spark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follow, indicating key areas of specialization (Deep Learning, Big Data, and BI).</a:t>
            </a:r>
          </a:p>
          <a:p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Pay is Highly Competitive: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average salaries across the top 5 industries (Consulting, Media, Manufacturing, etc.) are extremely close. The difference between the highest (Consulting, $117,004) and the fifth-highest (Technology, $115,855) is negligible, suggesting AI talent is valued similarly across these diverse sectors.</a:t>
            </a:r>
          </a:p>
          <a:p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is Geographically Concentrated: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vast majority of jobs are clustered in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 America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a secondary hub in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Asia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sz="1600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031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A46B-E067-5F21-4E06-56F12F29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2" y="136482"/>
            <a:ext cx="8017042" cy="108911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PK" sz="3200" b="1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543D2-FA54-5C84-F50E-465D086FB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032" y="1225592"/>
            <a:ext cx="5479486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the Core, Then Specialize: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Focus first on achieving deep fluency in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Your portfolio must prominently feature both. Once mastered, choose a high-demand specialization like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(Deep Learning) or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Spark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(Big Data Engineering) to move into higher-paying roles.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Your Job Hunt Strategically: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Concentrate your job search and networking efforts in </a:t>
            </a: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 (January-March)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Update your resume in December and be ready to apply heavily during this peak season.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for Architect &amp; Leadership Roles:</a:t>
            </a:r>
            <a:r>
              <a:rPr lang="en-US" sz="1600" dirty="0">
                <a:solidFill>
                  <a:srgbClr val="EEEE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data shows the most significant financial growth is in leadership. Once you have senior-level experience (5-7 years), actively pursue roles like "AI Architect" or "Head of AI," as these positions have the highest earning potential.</a:t>
            </a:r>
            <a:endParaRPr lang="en-PK" sz="1600" dirty="0">
              <a:solidFill>
                <a:srgbClr val="EEEE6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09DC40-7930-9D2B-FC13-156F60D05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484" y="2099183"/>
            <a:ext cx="5470338" cy="34777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304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19833D-E076-16F4-0CBC-854086B18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28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177</TotalTime>
  <Words>959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AI Job Market Analysis</vt:lpstr>
      <vt:lpstr>Introduction</vt:lpstr>
      <vt:lpstr>Data Cleaning &amp; Preparation</vt:lpstr>
      <vt:lpstr>Dashboard</vt:lpstr>
      <vt:lpstr>Market Overview</vt:lpstr>
      <vt:lpstr>Compensation Analysis </vt:lpstr>
      <vt:lpstr>Average Salary by Experience Level</vt:lpstr>
      <vt:lpstr>Role &amp; Skill Requirements </vt:lpstr>
      <vt:lpstr>Salary Benchmark </vt:lpstr>
      <vt:lpstr>Hiring Trends &amp; Geography </vt:lpstr>
      <vt:lpstr>Key Insights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Osama Hafeez</dc:creator>
  <cp:lastModifiedBy>Osama Hafeez</cp:lastModifiedBy>
  <cp:revision>2</cp:revision>
  <dcterms:created xsi:type="dcterms:W3CDTF">2025-10-30T16:52:19Z</dcterms:created>
  <dcterms:modified xsi:type="dcterms:W3CDTF">2025-10-30T19:56:10Z</dcterms:modified>
</cp:coreProperties>
</file>